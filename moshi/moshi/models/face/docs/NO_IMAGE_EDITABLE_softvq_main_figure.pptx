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puts panel"/>
          <p:cNvSpPr/>
          <p:nvPr/>
        </p:nvSpPr>
        <p:spPr>
          <a:xfrm>
            <a:off x="73152" y="73152"/>
            <a:ext cx="1243584" cy="6053328"/>
          </a:xfrm>
          <a:prstGeom prst="roundRect">
            <a:avLst/>
          </a:prstGeom>
          <a:solidFill>
            <a:srgbClr val="FBF7FF"/>
          </a:solidFill>
          <a:ln w="12700">
            <a:solidFill>
              <a:srgbClr val="6F4AA0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3" name="text"/>
          <p:cNvSpPr txBox="1"/>
          <p:nvPr/>
        </p:nvSpPr>
        <p:spPr>
          <a:xfrm>
            <a:off x="301752" y="128016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6F4AA0"/>
                </a:solidFill>
              </a:rPr>
              <a:t>1. INPUTS</a:t>
            </a:r>
          </a:p>
        </p:txBody>
      </p:sp>
      <p:sp>
        <p:nvSpPr>
          <p:cNvPr id="4" name="shape"/>
          <p:cNvSpPr/>
          <p:nvPr/>
        </p:nvSpPr>
        <p:spPr>
          <a:xfrm>
            <a:off x="137160" y="502920"/>
            <a:ext cx="1115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A0"/>
            </a:solidFill>
          </a:ln>
        </p:spPr>
        <p:txBody>
          <a:bodyPr wrap="square" anchor="mid"/>
          <a:lstStyle/>
          <a:p>
            <a:pPr algn="ctr"/>
            <a:r>
              <a:rPr lang="en-US" sz="900">
                <a:solidFill>
                  <a:srgbClr val="111827"/>
                </a:solidFill>
              </a:rPr>
              <a:t>Streaming Mimi</a:t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>Audio Feature</a:t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/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>[B,T_audio,512]</a:t>
            </a:r>
          </a:p>
        </p:txBody>
      </p:sp>
      <p:sp>
        <p:nvSpPr>
          <p:cNvPr id="5" name="shape"/>
          <p:cNvSpPr/>
          <p:nvPr/>
        </p:nvSpPr>
        <p:spPr>
          <a:xfrm>
            <a:off x="137160" y="1764792"/>
            <a:ext cx="11155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A0"/>
            </a:solidFill>
          </a:ln>
        </p:spPr>
        <p:txBody>
          <a:bodyPr wrap="square" anchor="mid"/>
          <a:lstStyle/>
          <a:p>
            <a:pPr algn="ctr"/>
            <a:r>
              <a:rPr lang="en-US" sz="900">
                <a:solidFill>
                  <a:srgbClr val="111827"/>
                </a:solidFill>
              </a:rPr>
              <a:t>LLM Feature</a:t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/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>[B,T_audio,4096]</a:t>
            </a:r>
          </a:p>
          <a:p>
            <a:pPr algn="ctr"/>
            <a:r>
              <a:rPr lang="en-US" sz="900">
                <a:solidFill>
                  <a:srgbClr val="111827"/>
                </a:solidFill>
              </a:rPr>
              <a:t>currently zero dummy</a:t>
            </a:r>
          </a:p>
        </p:txBody>
      </p:sp>
      <p:sp>
        <p:nvSpPr>
          <p:cNvPr id="6" name="shape"/>
          <p:cNvSpPr/>
          <p:nvPr/>
        </p:nvSpPr>
        <p:spPr>
          <a:xfrm>
            <a:off x="137160" y="3090672"/>
            <a:ext cx="111556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A0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External inputs only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/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No ground-truth motion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is fed as an input</a:t>
            </a:r>
          </a:p>
        </p:txBody>
      </p:sp>
      <p:sp>
        <p:nvSpPr>
          <p:cNvPr id="7" name="Audio panel"/>
          <p:cNvSpPr/>
          <p:nvPr/>
        </p:nvSpPr>
        <p:spPr>
          <a:xfrm>
            <a:off x="1600200" y="73152"/>
            <a:ext cx="5257800" cy="2542032"/>
          </a:xfrm>
          <a:prstGeom prst="roundRect">
            <a:avLst/>
          </a:prstGeom>
          <a:solidFill>
            <a:srgbClr val="F4F9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8" name="text"/>
          <p:cNvSpPr txBox="1"/>
          <p:nvPr/>
        </p:nvSpPr>
        <p:spPr>
          <a:xfrm>
            <a:off x="3429000" y="128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D5FA8"/>
                </a:solidFill>
              </a:rPr>
              <a:t>2. AUDIO STREAM</a:t>
            </a:r>
          </a:p>
        </p:txBody>
      </p:sp>
      <p:sp>
        <p:nvSpPr>
          <p:cNvPr id="9" name="shape"/>
          <p:cNvSpPr/>
          <p:nvPr/>
        </p:nvSpPr>
        <p:spPr>
          <a:xfrm>
            <a:off x="1783080" y="713232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audio_feat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[B,T_audio,512]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2788920" y="685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temporal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upsample ×2</a:t>
            </a:r>
          </a:p>
        </p:txBody>
      </p:sp>
      <p:sp>
        <p:nvSpPr>
          <p:cNvPr id="11" name="shape"/>
          <p:cNvSpPr/>
          <p:nvPr/>
        </p:nvSpPr>
        <p:spPr>
          <a:xfrm>
            <a:off x="3364992" y="685800"/>
            <a:ext cx="713232" cy="5029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audio_proj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512→H</a:t>
            </a:r>
          </a:p>
        </p:txBody>
      </p:sp>
      <p:sp>
        <p:nvSpPr>
          <p:cNvPr id="12" name="shape"/>
          <p:cNvSpPr/>
          <p:nvPr/>
        </p:nvSpPr>
        <p:spPr>
          <a:xfrm>
            <a:off x="1783080" y="1572768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llm_feat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[B,T_audio,4096]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788920" y="1545336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temporal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upsample ×2</a:t>
            </a:r>
          </a:p>
        </p:txBody>
      </p:sp>
      <p:sp>
        <p:nvSpPr>
          <p:cNvPr id="14" name="shape"/>
          <p:cNvSpPr/>
          <p:nvPr/>
        </p:nvSpPr>
        <p:spPr>
          <a:xfrm>
            <a:off x="3364992" y="1545336"/>
            <a:ext cx="713232" cy="50292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llm_proj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4096→H</a:t>
            </a:r>
          </a:p>
        </p:txBody>
      </p:sp>
      <p:sp>
        <p:nvSpPr>
          <p:cNvPr id="15" name="shape"/>
          <p:cNvSpPr/>
          <p:nvPr/>
        </p:nvSpPr>
        <p:spPr>
          <a:xfrm>
            <a:off x="4434840" y="658368"/>
            <a:ext cx="822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learned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pos + phase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[B,T_face,H]</a:t>
            </a:r>
          </a:p>
        </p:txBody>
      </p:sp>
      <p:sp>
        <p:nvSpPr>
          <p:cNvPr id="16" name="add"/>
          <p:cNvSpPr/>
          <p:nvPr/>
        </p:nvSpPr>
        <p:spPr>
          <a:xfrm>
            <a:off x="4416552" y="1426464"/>
            <a:ext cx="219456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anchor="mid"/>
          <a:lstStyle/>
          <a:p>
            <a:pPr algn="ctr"/>
            <a:r>
              <a:rPr lang="en-US" sz="14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17" name="shape"/>
          <p:cNvSpPr/>
          <p:nvPr/>
        </p:nvSpPr>
        <p:spPr>
          <a:xfrm>
            <a:off x="4956048" y="1078992"/>
            <a:ext cx="1325880" cy="78638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Causal Transformer Encoder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(audio_encoder)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L=6, heads=8</a:t>
            </a:r>
          </a:p>
        </p:txBody>
      </p:sp>
      <p:sp>
        <p:nvSpPr>
          <p:cNvPr id="18" name="shape"/>
          <p:cNvSpPr/>
          <p:nvPr/>
        </p:nvSpPr>
        <p:spPr>
          <a:xfrm>
            <a:off x="6446520" y="1170432"/>
            <a:ext cx="310896" cy="60350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Layer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Norm</a:t>
            </a:r>
          </a:p>
        </p:txBody>
      </p:sp>
      <p:sp>
        <p:nvSpPr>
          <p:cNvPr id="19" name="shape"/>
          <p:cNvSpPr/>
          <p:nvPr/>
        </p:nvSpPr>
        <p:spPr>
          <a:xfrm>
            <a:off x="3621024" y="2130552"/>
            <a:ext cx="822960" cy="384048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z_head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H→code_dim</a:t>
            </a:r>
          </a:p>
        </p:txBody>
      </p:sp>
      <p:sp>
        <p:nvSpPr>
          <p:cNvPr id="20" name="shape"/>
          <p:cNvSpPr/>
          <p:nvPr/>
        </p:nvSpPr>
        <p:spPr>
          <a:xfrm>
            <a:off x="4800600" y="2130552"/>
            <a:ext cx="987552" cy="38404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D7D2D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prior_head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(H+code_dim)→54</a:t>
            </a:r>
          </a:p>
        </p:txBody>
      </p:sp>
      <p:cxnSp>
        <p:nvCxnSpPr>
          <p:cNvPr id="21" name="arrow"/>
          <p:cNvCxnSpPr/>
          <p:nvPr/>
        </p:nvCxnSpPr>
        <p:spPr>
          <a:xfrm flipV="1">
            <a:off x="1252728" y="932688"/>
            <a:ext cx="530352" cy="91440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2" name="arrow"/>
          <p:cNvCxnSpPr/>
          <p:nvPr/>
        </p:nvCxnSpPr>
        <p:spPr>
          <a:xfrm flipV="1">
            <a:off x="1252728" y="1792224"/>
            <a:ext cx="530352" cy="49377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3" name="arrow"/>
          <p:cNvCxnSpPr/>
          <p:nvPr/>
        </p:nvCxnSpPr>
        <p:spPr>
          <a:xfrm>
            <a:off x="2697480" y="932688"/>
            <a:ext cx="667512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4" name="arrow"/>
          <p:cNvCxnSpPr/>
          <p:nvPr/>
        </p:nvCxnSpPr>
        <p:spPr>
          <a:xfrm>
            <a:off x="2697480" y="1792224"/>
            <a:ext cx="667512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5" name="arrow"/>
          <p:cNvCxnSpPr/>
          <p:nvPr/>
        </p:nvCxnSpPr>
        <p:spPr>
          <a:xfrm>
            <a:off x="4078224" y="932688"/>
            <a:ext cx="338328" cy="484632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6" name="arrow"/>
          <p:cNvCxnSpPr/>
          <p:nvPr/>
        </p:nvCxnSpPr>
        <p:spPr>
          <a:xfrm flipV="1">
            <a:off x="4078224" y="1627632"/>
            <a:ext cx="338328" cy="164592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7" name="arrow"/>
          <p:cNvCxnSpPr/>
          <p:nvPr/>
        </p:nvCxnSpPr>
        <p:spPr>
          <a:xfrm flipV="1">
            <a:off x="4736592" y="1472184"/>
            <a:ext cx="219456" cy="6400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28" name="arrow"/>
          <p:cNvCxnSpPr/>
          <p:nvPr/>
        </p:nvCxnSpPr>
        <p:spPr>
          <a:xfrm flipH="1">
            <a:off x="4526280" y="1316736"/>
            <a:ext cx="731520" cy="109728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cxnSp>
        <p:nvCxnSpPr>
          <p:cNvPr id="29" name="arrow"/>
          <p:cNvCxnSpPr/>
          <p:nvPr/>
        </p:nvCxnSpPr>
        <p:spPr>
          <a:xfrm>
            <a:off x="6281928" y="1472184"/>
            <a:ext cx="164592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30" name="arrow"/>
          <p:cNvCxnSpPr/>
          <p:nvPr/>
        </p:nvCxnSpPr>
        <p:spPr>
          <a:xfrm flipH="1">
            <a:off x="5294376" y="1773936"/>
            <a:ext cx="1307592" cy="356616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cxnSp>
        <p:nvCxnSpPr>
          <p:cNvPr id="31" name="arrow"/>
          <p:cNvCxnSpPr/>
          <p:nvPr/>
        </p:nvCxnSpPr>
        <p:spPr>
          <a:xfrm flipH="1">
            <a:off x="4023360" y="1773936"/>
            <a:ext cx="2578608" cy="356616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sp>
        <p:nvSpPr>
          <p:cNvPr id="32" name="Motion panel"/>
          <p:cNvSpPr/>
          <p:nvPr/>
        </p:nvSpPr>
        <p:spPr>
          <a:xfrm>
            <a:off x="6931152" y="73152"/>
            <a:ext cx="5074920" cy="2542032"/>
          </a:xfrm>
          <a:prstGeom prst="roundRect">
            <a:avLst/>
          </a:prstGeom>
          <a:solidFill>
            <a:srgbClr val="F5FFF3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33" name="text"/>
          <p:cNvSpPr txBox="1"/>
          <p:nvPr/>
        </p:nvSpPr>
        <p:spPr>
          <a:xfrm>
            <a:off x="8458200" y="128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3C873F"/>
                </a:solidFill>
              </a:rPr>
              <a:t>3. MOTION STREAM</a:t>
            </a:r>
          </a:p>
        </p:txBody>
      </p:sp>
      <p:sp>
        <p:nvSpPr>
          <p:cNvPr id="34" name="shape"/>
          <p:cNvSpPr/>
          <p:nvPr/>
        </p:nvSpPr>
        <p:spPr>
          <a:xfrm>
            <a:off x="7114032" y="960120"/>
            <a:ext cx="868680" cy="960120"/>
          </a:xfrm>
          <a:prstGeom prst="roundRect">
            <a:avLst/>
          </a:prstGeom>
          <a:solidFill>
            <a:srgbClr val="F7F1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Motion State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train: shifted GT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infer: pred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[B,T_face,54]</a:t>
            </a:r>
          </a:p>
        </p:txBody>
      </p:sp>
      <p:sp>
        <p:nvSpPr>
          <p:cNvPr id="35" name="shape"/>
          <p:cNvSpPr/>
          <p:nvPr/>
        </p:nvSpPr>
        <p:spPr>
          <a:xfrm>
            <a:off x="7114032" y="1993392"/>
            <a:ext cx="868680" cy="40233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Audio Hidden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[B,T_face,H]</a:t>
            </a:r>
          </a:p>
        </p:txBody>
      </p:sp>
      <p:sp>
        <p:nvSpPr>
          <p:cNvPr id="36" name="shape"/>
          <p:cNvSpPr/>
          <p:nvPr/>
        </p:nvSpPr>
        <p:spPr>
          <a:xfrm>
            <a:off x="8257032" y="1325880"/>
            <a:ext cx="841248" cy="502920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motion_proj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(54+H)→H</a:t>
            </a:r>
          </a:p>
        </p:txBody>
      </p:sp>
      <p:sp>
        <p:nvSpPr>
          <p:cNvPr id="37" name="shape"/>
          <p:cNvSpPr/>
          <p:nvPr/>
        </p:nvSpPr>
        <p:spPr>
          <a:xfrm>
            <a:off x="9272016" y="548640"/>
            <a:ext cx="78638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learned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pos + phase</a:t>
            </a:r>
          </a:p>
        </p:txBody>
      </p:sp>
      <p:sp>
        <p:nvSpPr>
          <p:cNvPr id="38" name="add"/>
          <p:cNvSpPr/>
          <p:nvPr/>
        </p:nvSpPr>
        <p:spPr>
          <a:xfrm>
            <a:off x="9336024" y="1463040"/>
            <a:ext cx="219456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anchor="mid"/>
          <a:lstStyle/>
          <a:p>
            <a:pPr algn="ctr"/>
            <a:r>
              <a:rPr lang="en-US" sz="14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39" name="shape"/>
          <p:cNvSpPr/>
          <p:nvPr/>
        </p:nvSpPr>
        <p:spPr>
          <a:xfrm>
            <a:off x="9857232" y="1051560"/>
            <a:ext cx="1371600" cy="822960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Causal Transformer Encoder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(motion_encoder)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L=6, heads=8</a:t>
            </a:r>
          </a:p>
        </p:txBody>
      </p:sp>
      <p:sp>
        <p:nvSpPr>
          <p:cNvPr id="40" name="shape"/>
          <p:cNvSpPr/>
          <p:nvPr/>
        </p:nvSpPr>
        <p:spPr>
          <a:xfrm>
            <a:off x="11411712" y="1234440"/>
            <a:ext cx="347472" cy="530352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Layer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Norm</a:t>
            </a:r>
          </a:p>
        </p:txBody>
      </p:sp>
      <p:cxnSp>
        <p:nvCxnSpPr>
          <p:cNvPr id="41" name="arrow"/>
          <p:cNvCxnSpPr/>
          <p:nvPr/>
        </p:nvCxnSpPr>
        <p:spPr>
          <a:xfrm flipV="1">
            <a:off x="6858000" y="1353312"/>
            <a:ext cx="256032" cy="118872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2" name="arrow"/>
          <p:cNvCxnSpPr/>
          <p:nvPr/>
        </p:nvCxnSpPr>
        <p:spPr>
          <a:xfrm>
            <a:off x="6858000" y="1472184"/>
            <a:ext cx="256032" cy="72237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3" name="arrow"/>
          <p:cNvCxnSpPr/>
          <p:nvPr/>
        </p:nvCxnSpPr>
        <p:spPr>
          <a:xfrm>
            <a:off x="7982712" y="1417320"/>
            <a:ext cx="274320" cy="15544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4" name="arrow"/>
          <p:cNvCxnSpPr/>
          <p:nvPr/>
        </p:nvCxnSpPr>
        <p:spPr>
          <a:xfrm>
            <a:off x="9098280" y="1572768"/>
            <a:ext cx="228600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5" name="arrow"/>
          <p:cNvCxnSpPr/>
          <p:nvPr/>
        </p:nvCxnSpPr>
        <p:spPr>
          <a:xfrm>
            <a:off x="9445752" y="1115568"/>
            <a:ext cx="9144" cy="347472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6" name="arrow"/>
          <p:cNvCxnSpPr/>
          <p:nvPr/>
        </p:nvCxnSpPr>
        <p:spPr>
          <a:xfrm flipV="1">
            <a:off x="9555480" y="1463040"/>
            <a:ext cx="301752" cy="10972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47" name="arrow"/>
          <p:cNvCxnSpPr/>
          <p:nvPr/>
        </p:nvCxnSpPr>
        <p:spPr>
          <a:xfrm>
            <a:off x="11228832" y="1463040"/>
            <a:ext cx="182880" cy="3657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sp>
        <p:nvSpPr>
          <p:cNvPr id="48" name="Dynamics panel"/>
          <p:cNvSpPr/>
          <p:nvPr/>
        </p:nvSpPr>
        <p:spPr>
          <a:xfrm>
            <a:off x="2697480" y="2880360"/>
            <a:ext cx="7114032" cy="2999232"/>
          </a:xfrm>
          <a:prstGeom prst="roundRect">
            <a:avLst/>
          </a:prstGeom>
          <a:solidFill>
            <a:srgbClr val="FFF9F2"/>
          </a:solidFill>
          <a:ln w="12700">
            <a:solidFill>
              <a:srgbClr val="DD7D2D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49" name="text"/>
          <p:cNvSpPr txBox="1"/>
          <p:nvPr/>
        </p:nvSpPr>
        <p:spPr>
          <a:xfrm>
            <a:off x="4892040" y="29260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DD7D2D"/>
                </a:solidFill>
              </a:rPr>
              <a:t>4. DYNAMICS + FUSION</a:t>
            </a:r>
          </a:p>
        </p:txBody>
      </p:sp>
      <p:sp>
        <p:nvSpPr>
          <p:cNvPr id="50" name="shape"/>
          <p:cNvSpPr/>
          <p:nvPr/>
        </p:nvSpPr>
        <p:spPr>
          <a:xfrm>
            <a:off x="2907792" y="3401568"/>
            <a:ext cx="822960" cy="402336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motion_h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[B,T,H]</a:t>
            </a:r>
          </a:p>
        </p:txBody>
      </p:sp>
      <p:sp>
        <p:nvSpPr>
          <p:cNvPr id="51" name="shape"/>
          <p:cNvSpPr/>
          <p:nvPr/>
        </p:nvSpPr>
        <p:spPr>
          <a:xfrm>
            <a:off x="2907792" y="3913632"/>
            <a:ext cx="822960" cy="402336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D5FA8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audio_h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[B,T,H]</a:t>
            </a:r>
          </a:p>
        </p:txBody>
      </p:sp>
      <p:sp>
        <p:nvSpPr>
          <p:cNvPr id="52" name="add"/>
          <p:cNvSpPr/>
          <p:nvPr/>
        </p:nvSpPr>
        <p:spPr>
          <a:xfrm>
            <a:off x="3895344" y="3547872"/>
            <a:ext cx="219456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anchor="mid"/>
          <a:lstStyle/>
          <a:p>
            <a:pPr algn="ctr"/>
            <a:r>
              <a:rPr lang="en-US" sz="14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53" name="shape"/>
          <p:cNvSpPr/>
          <p:nvPr/>
        </p:nvSpPr>
        <p:spPr>
          <a:xfrm>
            <a:off x="4343400" y="3310128"/>
            <a:ext cx="822960" cy="43891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D7D2D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delta_head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2H→54</a:t>
            </a:r>
          </a:p>
        </p:txBody>
      </p:sp>
      <p:sp>
        <p:nvSpPr>
          <p:cNvPr id="54" name="shape"/>
          <p:cNvSpPr/>
          <p:nvPr/>
        </p:nvSpPr>
        <p:spPr>
          <a:xfrm>
            <a:off x="4343400" y="3913632"/>
            <a:ext cx="822960" cy="43891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D4A4A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residual_head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2H→54</a:t>
            </a:r>
          </a:p>
        </p:txBody>
      </p:sp>
      <p:sp>
        <p:nvSpPr>
          <p:cNvPr id="55" name="shape"/>
          <p:cNvSpPr/>
          <p:nvPr/>
        </p:nvSpPr>
        <p:spPr>
          <a:xfrm>
            <a:off x="5440680" y="3310128"/>
            <a:ext cx="777240" cy="43891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D4A4A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scale/tanh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expr .08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jaw .03</a:t>
            </a:r>
          </a:p>
        </p:txBody>
      </p:sp>
      <p:sp>
        <p:nvSpPr>
          <p:cNvPr id="56" name="shape"/>
          <p:cNvSpPr/>
          <p:nvPr/>
        </p:nvSpPr>
        <p:spPr>
          <a:xfrm>
            <a:off x="5440680" y="3913632"/>
            <a:ext cx="777240" cy="43891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D4A4A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scale/tanh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expr .08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jaw .03</a:t>
            </a:r>
          </a:p>
        </p:txBody>
      </p:sp>
      <p:sp>
        <p:nvSpPr>
          <p:cNvPr id="57" name="shape"/>
          <p:cNvSpPr/>
          <p:nvPr/>
        </p:nvSpPr>
        <p:spPr>
          <a:xfrm>
            <a:off x="6766560" y="3337560"/>
            <a:ext cx="1042416" cy="438912"/>
          </a:xfrm>
          <a:prstGeom prst="roundRect">
            <a:avLst/>
          </a:prstGeom>
          <a:solidFill>
            <a:srgbClr val="F7F1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candidate_motion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prev + delta</a:t>
            </a:r>
          </a:p>
        </p:txBody>
      </p:sp>
      <p:sp>
        <p:nvSpPr>
          <p:cNvPr id="58" name="shape"/>
          <p:cNvSpPr/>
          <p:nvPr/>
        </p:nvSpPr>
        <p:spPr>
          <a:xfrm>
            <a:off x="4160520" y="4590288"/>
            <a:ext cx="1143000" cy="694944"/>
          </a:xfrm>
          <a:prstGeom prst="roundRect">
            <a:avLst/>
          </a:prstGeom>
          <a:solidFill>
            <a:srgbClr val="F6F7F8"/>
          </a:solidFill>
          <a:ln w="12700">
            <a:solidFill>
              <a:srgbClr val="7B8490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gate inputs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[dyn_h, prev, prior,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candidate, cand-prior]</a:t>
            </a:r>
          </a:p>
        </p:txBody>
      </p:sp>
      <p:sp>
        <p:nvSpPr>
          <p:cNvPr id="59" name="shape"/>
          <p:cNvSpPr/>
          <p:nvPr/>
        </p:nvSpPr>
        <p:spPr>
          <a:xfrm>
            <a:off x="5623560" y="4681728"/>
            <a:ext cx="960120" cy="493776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D7D2D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gate_head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(2H+4×54)→3</a:t>
            </a:r>
          </a:p>
        </p:txBody>
      </p:sp>
      <p:sp>
        <p:nvSpPr>
          <p:cNvPr id="60" name="shape"/>
          <p:cNvSpPr/>
          <p:nvPr/>
        </p:nvSpPr>
        <p:spPr>
          <a:xfrm>
            <a:off x="6839712" y="4572000"/>
            <a:ext cx="841248" cy="685800"/>
          </a:xfrm>
          <a:prstGeom prst="roundRect">
            <a:avLst/>
          </a:prstGeom>
          <a:solidFill>
            <a:srgbClr val="F7F1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sigmoid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expr / jaw / neck</a:t>
            </a:r>
          </a:p>
        </p:txBody>
      </p:sp>
      <p:sp>
        <p:nvSpPr>
          <p:cNvPr id="61" name="shape"/>
          <p:cNvSpPr/>
          <p:nvPr/>
        </p:nvSpPr>
        <p:spPr>
          <a:xfrm>
            <a:off x="7882128" y="4572000"/>
            <a:ext cx="987552" cy="685800"/>
          </a:xfrm>
          <a:prstGeom prst="roundRect">
            <a:avLst/>
          </a:prstGeom>
          <a:solidFill>
            <a:srgbClr val="F6F7F8"/>
          </a:solidFill>
          <a:ln w="12700">
            <a:solidFill>
              <a:srgbClr val="7B8490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expand to 54D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+ warmup gate</a:t>
            </a:r>
          </a:p>
        </p:txBody>
      </p:sp>
      <p:sp>
        <p:nvSpPr>
          <p:cNvPr id="62" name="multiply"/>
          <p:cNvSpPr/>
          <p:nvPr/>
        </p:nvSpPr>
        <p:spPr>
          <a:xfrm>
            <a:off x="8988552" y="4297680"/>
            <a:ext cx="219456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anchor="mid"/>
          <a:lstStyle/>
          <a:p>
            <a:pPr algn="ctr"/>
            <a:r>
              <a:rPr lang="en-US" sz="1400" b="1">
                <a:solidFill>
                  <a:srgbClr val="111827"/>
                </a:solidFill>
              </a:rPr>
              <a:t>×</a:t>
            </a:r>
          </a:p>
        </p:txBody>
      </p:sp>
      <p:sp>
        <p:nvSpPr>
          <p:cNvPr id="63" name="shape"/>
          <p:cNvSpPr/>
          <p:nvPr/>
        </p:nvSpPr>
        <p:spPr>
          <a:xfrm>
            <a:off x="7882128" y="544068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7D2D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base = gate*candidate</a:t>
            </a:r>
          </a:p>
          <a:p>
            <a:pPr algn="ctr"/>
            <a:r>
              <a:rPr lang="en-US" sz="700">
                <a:solidFill>
                  <a:srgbClr val="111827"/>
                </a:solidFill>
              </a:rPr>
              <a:t>+ (1-gate)*prior</a:t>
            </a:r>
          </a:p>
        </p:txBody>
      </p:sp>
      <p:sp>
        <p:nvSpPr>
          <p:cNvPr id="64" name="add"/>
          <p:cNvSpPr/>
          <p:nvPr/>
        </p:nvSpPr>
        <p:spPr>
          <a:xfrm>
            <a:off x="9464040" y="3849624"/>
            <a:ext cx="219456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txBody>
          <a:bodyPr wrap="square" anchor="mid"/>
          <a:lstStyle/>
          <a:p>
            <a:pPr algn="ctr"/>
            <a:r>
              <a:rPr lang="en-US" sz="14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6309360" y="56235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900" b="1">
                <a:solidFill>
                  <a:srgbClr val="111827"/>
                </a:solidFill>
              </a:rPr>
              <a:t>pred = base + residual</a:t>
            </a:r>
          </a:p>
        </p:txBody>
      </p:sp>
      <p:cxnSp>
        <p:nvCxnSpPr>
          <p:cNvPr id="66" name="arrow"/>
          <p:cNvCxnSpPr/>
          <p:nvPr/>
        </p:nvCxnSpPr>
        <p:spPr>
          <a:xfrm>
            <a:off x="3730752" y="3602736"/>
            <a:ext cx="164592" cy="3657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67" name="arrow"/>
          <p:cNvCxnSpPr/>
          <p:nvPr/>
        </p:nvCxnSpPr>
        <p:spPr>
          <a:xfrm flipV="1">
            <a:off x="3730752" y="3712464"/>
            <a:ext cx="164592" cy="40233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68" name="arrow"/>
          <p:cNvCxnSpPr/>
          <p:nvPr/>
        </p:nvCxnSpPr>
        <p:spPr>
          <a:xfrm flipV="1">
            <a:off x="4114800" y="3529584"/>
            <a:ext cx="228600" cy="12801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69" name="arrow"/>
          <p:cNvCxnSpPr/>
          <p:nvPr/>
        </p:nvCxnSpPr>
        <p:spPr>
          <a:xfrm>
            <a:off x="4114800" y="3657600"/>
            <a:ext cx="228600" cy="47548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0" name="arrow"/>
          <p:cNvCxnSpPr/>
          <p:nvPr/>
        </p:nvCxnSpPr>
        <p:spPr>
          <a:xfrm>
            <a:off x="5166360" y="3529584"/>
            <a:ext cx="274320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1" name="arrow"/>
          <p:cNvCxnSpPr/>
          <p:nvPr/>
        </p:nvCxnSpPr>
        <p:spPr>
          <a:xfrm>
            <a:off x="5166360" y="4133088"/>
            <a:ext cx="274320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2" name="arrow"/>
          <p:cNvCxnSpPr/>
          <p:nvPr/>
        </p:nvCxnSpPr>
        <p:spPr>
          <a:xfrm>
            <a:off x="6217920" y="3529584"/>
            <a:ext cx="548640" cy="3657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3" name="arrow"/>
          <p:cNvCxnSpPr/>
          <p:nvPr/>
        </p:nvCxnSpPr>
        <p:spPr>
          <a:xfrm>
            <a:off x="7808976" y="3566160"/>
            <a:ext cx="1179576" cy="74980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4" name="arrow"/>
          <p:cNvCxnSpPr/>
          <p:nvPr/>
        </p:nvCxnSpPr>
        <p:spPr>
          <a:xfrm flipV="1">
            <a:off x="5303520" y="4928616"/>
            <a:ext cx="320040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5" name="arrow"/>
          <p:cNvCxnSpPr/>
          <p:nvPr/>
        </p:nvCxnSpPr>
        <p:spPr>
          <a:xfrm flipV="1">
            <a:off x="6583680" y="4919472"/>
            <a:ext cx="256032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6" name="arrow"/>
          <p:cNvCxnSpPr/>
          <p:nvPr/>
        </p:nvCxnSpPr>
        <p:spPr>
          <a:xfrm>
            <a:off x="7680960" y="4919472"/>
            <a:ext cx="201168" cy="9144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7" name="arrow"/>
          <p:cNvCxnSpPr/>
          <p:nvPr/>
        </p:nvCxnSpPr>
        <p:spPr>
          <a:xfrm flipV="1">
            <a:off x="8869680" y="4507992"/>
            <a:ext cx="146304" cy="411480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8" name="arrow"/>
          <p:cNvCxnSpPr/>
          <p:nvPr/>
        </p:nvCxnSpPr>
        <p:spPr>
          <a:xfrm flipV="1">
            <a:off x="9208008" y="4041648"/>
            <a:ext cx="256032" cy="365760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79" name="arrow"/>
          <p:cNvCxnSpPr/>
          <p:nvPr/>
        </p:nvCxnSpPr>
        <p:spPr>
          <a:xfrm flipV="1">
            <a:off x="6217920" y="3913632"/>
            <a:ext cx="3246120" cy="219456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cxnSp>
        <p:nvCxnSpPr>
          <p:cNvPr id="80" name="arrow"/>
          <p:cNvCxnSpPr/>
          <p:nvPr/>
        </p:nvCxnSpPr>
        <p:spPr>
          <a:xfrm flipV="1">
            <a:off x="8458200" y="4041648"/>
            <a:ext cx="1014984" cy="1444752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sp>
        <p:nvSpPr>
          <p:cNvPr id="81" name="Output panel"/>
          <p:cNvSpPr/>
          <p:nvPr/>
        </p:nvSpPr>
        <p:spPr>
          <a:xfrm>
            <a:off x="10040112" y="2880360"/>
            <a:ext cx="2029968" cy="1508760"/>
          </a:xfrm>
          <a:prstGeom prst="roundRect">
            <a:avLst/>
          </a:prstGeom>
          <a:solidFill>
            <a:srgbClr val="FBF8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82" name="text"/>
          <p:cNvSpPr txBox="1"/>
          <p:nvPr/>
        </p:nvSpPr>
        <p:spPr>
          <a:xfrm>
            <a:off x="10561320" y="294436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7D59B0"/>
                </a:solidFill>
              </a:rPr>
              <a:t>5. OUTPUT</a:t>
            </a:r>
          </a:p>
        </p:txBody>
      </p:sp>
      <p:sp>
        <p:nvSpPr>
          <p:cNvPr id="83" name="shape"/>
          <p:cNvSpPr/>
          <p:nvPr/>
        </p:nvSpPr>
        <p:spPr>
          <a:xfrm>
            <a:off x="10222992" y="3291840"/>
            <a:ext cx="166420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800">
                <a:solidFill>
                  <a:srgbClr val="111827"/>
                </a:solidFill>
              </a:rPr>
              <a:t>pred_motion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54D continuous FLAME motion</a:t>
            </a:r>
          </a:p>
          <a:p>
            <a:pPr algn="ctr"/>
            <a:r>
              <a:rPr lang="en-US" sz="800">
                <a:solidFill>
                  <a:srgbClr val="111827"/>
                </a:solidFill>
              </a:rPr>
              <a:t>[B,T_face,54]</a:t>
            </a:r>
          </a:p>
        </p:txBody>
      </p:sp>
      <p:cxnSp>
        <p:nvCxnSpPr>
          <p:cNvPr id="84" name="arrow"/>
          <p:cNvCxnSpPr/>
          <p:nvPr/>
        </p:nvCxnSpPr>
        <p:spPr>
          <a:xfrm flipV="1">
            <a:off x="9683496" y="3666744"/>
            <a:ext cx="539496" cy="292608"/>
          </a:xfrm>
          <a:prstGeom prst="line">
            <a:avLst/>
          </a:prstGeom>
          <a:ln w="25400">
            <a:solidFill>
              <a:srgbClr val="1F2933"/>
            </a:solidFill>
            <a:headEnd type="triangle"/>
          </a:ln>
        </p:spPr>
      </p:cxnSp>
      <p:sp>
        <p:nvSpPr>
          <p:cNvPr id="85" name="Loss panel"/>
          <p:cNvSpPr/>
          <p:nvPr/>
        </p:nvSpPr>
        <p:spPr>
          <a:xfrm>
            <a:off x="10040112" y="4553712"/>
            <a:ext cx="2029968" cy="1325880"/>
          </a:xfrm>
          <a:prstGeom prst="roundRect">
            <a:avLst/>
          </a:prstGeom>
          <a:solidFill>
            <a:srgbClr val="FBF8FF"/>
          </a:solidFill>
          <a:ln w="12700">
            <a:solidFill>
              <a:srgbClr val="7D59B0"/>
            </a:solidFill>
          </a:ln>
        </p:spPr>
        <p:txBody>
          <a:bodyPr wrap="square" anchor="mid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86" name="text"/>
          <p:cNvSpPr txBox="1"/>
          <p:nvPr/>
        </p:nvSpPr>
        <p:spPr>
          <a:xfrm>
            <a:off x="10360152" y="4608576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7D59B0"/>
                </a:solidFill>
              </a:rPr>
              <a:t>6. TRAINING LOSSES</a:t>
            </a:r>
          </a:p>
        </p:txBody>
      </p:sp>
      <p:sp>
        <p:nvSpPr>
          <p:cNvPr id="87" name="shape"/>
          <p:cNvSpPr/>
          <p:nvPr/>
        </p:nvSpPr>
        <p:spPr>
          <a:xfrm>
            <a:off x="10213848" y="4919472"/>
            <a:ext cx="1664208" cy="384048"/>
          </a:xfrm>
          <a:prstGeom prst="roundRect">
            <a:avLst/>
          </a:prstGeom>
          <a:solidFill>
            <a:srgbClr val="F2FBEE"/>
          </a:solidFill>
          <a:ln w="12700">
            <a:solidFill>
              <a:srgbClr val="3C873F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z loss vs codec quant_to_sum_feat(gt)</a:t>
            </a:r>
          </a:p>
        </p:txBody>
      </p:sp>
      <p:sp>
        <p:nvSpPr>
          <p:cNvPr id="88" name="shape"/>
          <p:cNvSpPr/>
          <p:nvPr/>
        </p:nvSpPr>
        <p:spPr>
          <a:xfrm>
            <a:off x="10213848" y="5413248"/>
            <a:ext cx="1664208" cy="384048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D4A4A"/>
            </a:solidFill>
          </a:ln>
        </p:spPr>
        <p:txBody>
          <a:bodyPr wrap="square" anchor="mid"/>
          <a:lstStyle/>
          <a:p>
            <a:pPr algn="ctr"/>
            <a:r>
              <a:rPr lang="en-US" sz="700">
                <a:solidFill>
                  <a:srgbClr val="111827"/>
                </a:solidFill>
              </a:rPr>
              <a:t>motion / jaw / vel losses vs GT</a:t>
            </a:r>
          </a:p>
        </p:txBody>
      </p:sp>
      <p:cxnSp>
        <p:nvCxnSpPr>
          <p:cNvPr id="89" name="arrow"/>
          <p:cNvCxnSpPr/>
          <p:nvPr/>
        </p:nvCxnSpPr>
        <p:spPr>
          <a:xfrm>
            <a:off x="4041648" y="2514600"/>
            <a:ext cx="6172200" cy="2596896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cxnSp>
        <p:nvCxnSpPr>
          <p:cNvPr id="90" name="arrow"/>
          <p:cNvCxnSpPr/>
          <p:nvPr/>
        </p:nvCxnSpPr>
        <p:spPr>
          <a:xfrm>
            <a:off x="10744200" y="4041648"/>
            <a:ext cx="9144" cy="1371600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cxnSp>
        <p:nvCxnSpPr>
          <p:cNvPr id="91" name="arrow"/>
          <p:cNvCxnSpPr/>
          <p:nvPr/>
        </p:nvCxnSpPr>
        <p:spPr>
          <a:xfrm flipH="1" flipV="1">
            <a:off x="7296912" y="960120"/>
            <a:ext cx="3447288" cy="3081528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cxnSp>
        <p:nvCxnSpPr>
          <p:cNvPr id="92" name="arrow"/>
          <p:cNvCxnSpPr/>
          <p:nvPr/>
        </p:nvCxnSpPr>
        <p:spPr>
          <a:xfrm flipH="1" flipV="1">
            <a:off x="7296912" y="960120"/>
            <a:ext cx="3447288" cy="3081528"/>
          </a:xfrm>
          <a:prstGeom prst="line">
            <a:avLst/>
          </a:prstGeom>
          <a:ln w="25400">
            <a:solidFill>
              <a:srgbClr val="1F2933"/>
            </a:solidFill>
            <a:prstDash val="dash"/>
            <a:headEnd type="triangle"/>
          </a:ln>
        </p:spPr>
      </p:cxnSp>
      <p:sp>
        <p:nvSpPr>
          <p:cNvPr id="93" name="shape"/>
          <p:cNvSpPr/>
          <p:nvPr/>
        </p:nvSpPr>
        <p:spPr>
          <a:xfrm>
            <a:off x="73152" y="6291072"/>
            <a:ext cx="119329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l"/>
            <a:r>
              <a:rPr lang="en-US" sz="800">
                <a:solidFill>
                  <a:srgbClr val="111827"/>
                </a:solidFill>
              </a:rPr>
              <a:t>Legend / notes: all encoders are causal. Motion state is internal: shifted GT during training, previous prediction during inference. Output is continuous 54D FLAME 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3"/>
      </a:dk2>
      <a:lt2>
        <a:srgbClr val="EEECE1"/>
      </a:lt2>
      <a:accent1>
        <a:srgbClr val="4472C4"/>
      </a:accent1>
      <a:accent2>
        <a:srgbClr val="70AD47"/>
      </a:accent2>
      <a:accent3>
        <a:srgbClr val="FFC000"/>
      </a:accent3>
      <a:accent4>
        <a:srgbClr val="5B9BD5"/>
      </a:accent4>
      <a:accent5>
        <a:srgbClr val="A5A5A5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SoftVQ Editable Figure</dc:title>
  <dc:creator>Codex</dc:creator>
</cp:coreProperties>
</file>